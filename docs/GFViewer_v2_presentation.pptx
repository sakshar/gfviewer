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GFViewer 2.0</a:t>
            </a:r>
          </a:p>
          <a:p>
            <a:r>
              <a:rPr sz="2000">
                <a:solidFill>
                  <a:srgbClr val="EEDDE0"/>
                </a:solidFill>
              </a:rPr>
              <a:t>From a legacy prototype to a hardened multigene-family genomics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1094415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32323"/>
                </a:solidFill>
              </a:rPr>
              <a:t>• Rewritten rendering engine, unified I/O, style system, and multi-format export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32323"/>
                </a:solidFill>
              </a:rPr>
              <a:t>• Re-architected web portal: async jobs, in-browser editor, hardening, CI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32323"/>
                </a:solidFill>
              </a:rPr>
              <a:t>• Analytics suite expanded with seven new spatial-statistics modules (SciPy-free)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32323"/>
                </a:solidFill>
              </a:rPr>
              <a:t>• Consolidated test-dataset collection with reproducible synthetic genomes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32323"/>
                </a:solidFill>
              </a:rPr>
              <a:t>• Worked example throughout: Test dataset 1 — Babesia sp. MO1, 18 multigene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Calibri"/>
              </a:rPr>
              <a:t>Chakravarty S. &amp; Lonardi S.  ·  Lonardi Lab, UC Riverside  ·  NIH 1-R01-AI169543-01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At a glance</a:t>
            </a:r>
          </a:p>
          <a:p>
            <a:r>
              <a:rPr sz="1200">
                <a:solidFill>
                  <a:srgbClr val="E9D6D9"/>
                </a:solidFill>
              </a:rPr>
              <a:t>What changed between the legacy tool and version 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232323"/>
                </a:solidFill>
              </a:rPr>
              <a:t>• Engine</a:t>
            </a:r>
            <a:r>
              <a:rPr sz="1350">
                <a:solidFill>
                  <a:srgbClr val="606060"/>
                </a:solidFill>
              </a:rPr>
              <a:t>  —  Bio.Graphics.BasicChromosome + per-chromosome GenBank files on disk  →  in-process matplotlib renderer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32323"/>
                </a:solidFill>
              </a:rPr>
              <a:t>• Inputs</a:t>
            </a:r>
            <a:r>
              <a:rPr sz="1350">
                <a:solidFill>
                  <a:srgbClr val="606060"/>
                </a:solidFill>
              </a:rPr>
              <a:t>  —  xlsx / csv / tsv only  →  + BED (3 modes), GFF3, GTF, with strict validation and clear errors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32323"/>
                </a:solidFill>
              </a:rPr>
              <a:t>• Families</a:t>
            </a:r>
            <a:r>
              <a:rPr sz="1350">
                <a:solidFill>
                  <a:srgbClr val="606060"/>
                </a:solidFill>
              </a:rPr>
              <a:t>  —  hard ceiling of 19 colours  →  programmatic palette, soft cap ~40, “collapse rare → Other”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32323"/>
                </a:solidFill>
              </a:rPr>
              <a:t>• Output</a:t>
            </a:r>
            <a:r>
              <a:rPr sz="1350">
                <a:solidFill>
                  <a:srgbClr val="606060"/>
                </a:solidFill>
              </a:rPr>
              <a:t>  —  PDF (+ a fragile PNG path)  →  PDF / SVG / PNG / JPG / TIFF / EPS + one-click ZIP bundles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32323"/>
                </a:solidFill>
              </a:rPr>
              <a:t>• Web app</a:t>
            </a:r>
            <a:r>
              <a:rPr sz="1350">
                <a:solidFill>
                  <a:srgbClr val="606060"/>
                </a:solidFill>
              </a:rPr>
              <a:t>  —  synchronous subprocess, string-scraped errors, multi-day outages  →  async job API, structured errors, disk caps, health probe, gunicorn, GitHub Actions CI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32323"/>
                </a:solidFill>
              </a:rPr>
              <a:t>• Interactivity</a:t>
            </a:r>
            <a:r>
              <a:rPr sz="1350">
                <a:solidFill>
                  <a:srgbClr val="606060"/>
                </a:solidFill>
              </a:rPr>
              <a:t>  —  none (static PDF)  →  in-browser SVG editor: pick families &amp; chromosomes, recolour, drag legend/labels, regenerate, re-export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32323"/>
                </a:solidFill>
              </a:rPr>
              <a:t>• Analytics</a:t>
            </a:r>
            <a:r>
              <a:rPr sz="1350">
                <a:solidFill>
                  <a:srgbClr val="606060"/>
                </a:solidFill>
              </a:rPr>
              <a:t>  —  a handful of per-family counts  →  full spatial-statistics suite, 7 new modules, Benjamini–Hochberg FDR everywhere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32323"/>
                </a:solidFill>
              </a:rPr>
              <a:t>• Distribution</a:t>
            </a:r>
            <a:r>
              <a:rPr sz="1350">
                <a:solidFill>
                  <a:srgbClr val="606060"/>
                </a:solidFill>
              </a:rPr>
              <a:t>  —  clone-and-run script  →  pip-installable  gfviewer  command + full install/CLI guide + Install 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Reviewer comments and how they were addressed  (1 /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7294" cy="195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961"/>
                <a:gridCol w="6428058"/>
                <a:gridCol w="1353275"/>
              </a:tblGrid>
              <a:tr h="3261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Reviewer concern (from the revision plan)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How it is addressed in GFViewer 2.0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Figure engine built on Bio.Graphics.BasicChromosome — writes a GenBank file per chromosome to disk and re-reads it; fragile and slow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Rendering rewritten from scratch on matplotlib; fully in-process, no disk round-trip. Legacy engine kept as gfviewer.legacy for one release.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Hard ceiling of ~19 gene families (fixed colour dictionary)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Programmatic palette (20 fixed maximally-distinct + generated beyond); readability warning &gt;25; soft cap 40 with “collapse rare → Other”; per-gene labels optional/off; legend auto multi-column or its own page.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Reads only Excel / CSV / TSV; should accept standard genome-annotation formats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Unified load_features() adds BED (3 auto-detected modes), GFF3 and GTF; 0-based ↔ 1-based handled; strict validation with explicit error messages.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Figure appearance is hard-coded in the source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Style surface via CLI flags + web form + reusable YAML/JSON style file: per-element fonts, legend, figure size/DPI/orientation/background/title, tick glyph, telomere &amp; centromere styling.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261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Limited export options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PDF / SVG / PNG / JPG / TIFF / EPS from one render; selectable DPI; one-click ZIP (“as produced” and “re-rendered in every format”).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Reviewer comments and how they were addressed  (2 /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7293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869"/>
                <a:gridCol w="6991922"/>
                <a:gridCol w="1240502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Reviewer concern (from the revision plan)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How it is addressed in GFViewer 2.0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Web application unreliable — “Internal Server Error for days”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Diagnosed: synchronous subprocess.run + weak cleanup exhausted disk / worker threads; errors were recovered by scraping stdout for “Error”. Fixed: in-process engine, Agg backend, async job API, real error pages, upload + per-job disk caps, TTL cleanup, gunicorn config, /api/health, pinned deps, 93-test suite + GitHub Actions CI.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Results are a static figure; no interactivity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Inline-SVG + JS editor: pick families &amp; chromosomes, recolour, drag legend/labels, change fonts/marks/legend/orientation, Regenerate (server re-render from cached data — no re-upload), export current state; static fallback if JS is off.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Provide quantitative localization statistics, not just a picture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Analytics module: per-family counts, density, sub-telomeric vs interior, distance-to-telomere, tandem arrays, telomere-bias permutation test, co-localization — plus 7 new modules (Ripley K/L, duplication mode, chromosome enrichment / strand / richness, centromere + arm + positional profile, hotspot BED, family-proximity clustering); BH-FDR throughout; downloadable tables + on-page summary.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Modernize the interface toward the lab’s SPICE-style UI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Planned as the next milestone: card-based workflow selection, minimalist header with Docs / Support, capability bullets instead of one dense form, standardized footer. Engine and API are already decoupled so this is a template-only change.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Deferred — to be addressed in the manuscript revision</a:t>
            </a:r>
          </a:p>
          <a:p>
            <a:r>
              <a:rPr sz="1200">
                <a:solidFill>
                  <a:srgbClr val="E9D6D9"/>
                </a:solidFill>
              </a:rPr>
              <a:t>Manuscript-text changes only; no tool change required — handled by the authors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32323"/>
                </a:solidFill>
              </a:rPr>
              <a:t>• Figure 1 and its legend</a:t>
            </a:r>
            <a:r>
              <a:rPr sz="1500">
                <a:solidFill>
                  <a:srgbClr val="606060"/>
                </a:solidFill>
              </a:rPr>
              <a:t>  —  expand to explain every visual element (telomere caps, centromere glyph, gene ticks, shared scale, colour → family mapping) tied to the underlying data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32323"/>
                </a:solidFill>
              </a:rPr>
              <a:t>• Introduction</a:t>
            </a:r>
            <a:r>
              <a:rPr sz="1500">
                <a:solidFill>
                  <a:srgbClr val="606060"/>
                </a:solidFill>
              </a:rPr>
              <a:t>  —  distinguish “gene families” (cross-species ortholog groups, no duplication) from “multigene families” (intragenomic, duplication-derived)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32323"/>
                </a:solidFill>
              </a:rPr>
              <a:t>• Introduction</a:t>
            </a:r>
            <a:r>
              <a:rPr sz="1500">
                <a:solidFill>
                  <a:srgbClr val="606060"/>
                </a:solidFill>
              </a:rPr>
              <a:t>  —  add one line describing the Babesia organisms (apicomplexan, tick-borne haemoparasites)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Calibri"/>
              </a:rPr>
              <a:t>All tool-facing reviewer comments (engine, family limit, input formats, customization, export, web-app robustness, interactivity, quantitative analytics) are implemented and verified. The three points above are wording/figure changes to the paper and are being incorporated in the revised manuscript by the authors.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Legacy vs. version 2 —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7294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594"/>
                <a:gridCol w="4510918"/>
                <a:gridCol w="5074782"/>
              </a:tblGrid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Legacy tool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GFViewer 2.0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Rendering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BasicChromosome; a GenBank file per chromosome on disk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In-process matplotlib (Agg) renderer, cm coordinates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Orientation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Horizontal only, ad-hoc sizing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Horizontal or vertical; auto layout; multi- / single-page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Input formats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Excel / CSV / TSV table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+ BED (3 modes) + GFF3 + GTF; auto-detected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Minimal; cryptic tracebacks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Unified loader; explicit, actionable errors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Family colours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Fixed 19-colour dict; breaks beyond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20 fixed + generated palette; warn &gt;25, cap 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Styling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Edit the source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CLI flags + web form + YAML/JSON style file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Export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PDF, brittle PNG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PDF / SVG / PNG / JPG / TIFF / EPS; DPI; ZIP bundles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Web execution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subprocess.run; stdout scraped for 'Error'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Thread-pool engine behind an async job API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Robustness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Disk fills; server wedged 'for days'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Upload + disk caps, TTL cleanup, /api/health, gunicorn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9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Tests / CI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Calibri"/>
                        </a:rPr>
                        <a:t>93 pytest tests + GitHub Actions (Py 3.8–3.12) + packaging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Rendering engine rewrite</a:t>
            </a:r>
          </a:p>
          <a:p>
            <a:r>
              <a:rPr sz="1200">
                <a:solidFill>
                  <a:srgbClr val="E9D6D9"/>
                </a:solidFill>
              </a:rPr>
              <a:t>Reviewer item 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matplotlib replaces BasicChromosome</a:t>
            </a:r>
            <a:r>
              <a:rPr sz="1400">
                <a:solidFill>
                  <a:srgbClr val="606060"/>
                </a:solidFill>
              </a:rPr>
              <a:t>  —  round-capped ideograms drawn in centimetres with set_aspect('equal'); no GenBank round-trip to disk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Strand-split marks</a:t>
            </a:r>
            <a:r>
              <a:rPr sz="1400">
                <a:solidFill>
                  <a:srgbClr val="606060"/>
                </a:solidFill>
              </a:rPr>
              <a:t>  —  + strand above the axis, − below; glyph styles: line, lollipop, triangle, box, arrow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Centromere rendering</a:t>
            </a:r>
            <a:r>
              <a:rPr sz="1400">
                <a:solidFill>
                  <a:srgbClr val="606060"/>
                </a:solidFill>
              </a:rPr>
              <a:t>  —  cytogenetic primary-constriction / diamond glyph when a centromere track is supplied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Automatic layout</a:t>
            </a:r>
            <a:r>
              <a:rPr sz="1400">
                <a:solidFill>
                  <a:srgbClr val="606060"/>
                </a:solidFill>
              </a:rPr>
              <a:t>  —  page height/width, chromosome pitch and label gutters computed from content; adjacent-chromosome label collisions resolved; labels kept in view (horizontal &amp; vertical)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SVG carries hooks</a:t>
            </a:r>
            <a:r>
              <a:rPr sz="1400">
                <a:solidFill>
                  <a:srgbClr val="606060"/>
                </a:solidFill>
              </a:rPr>
              <a:t>  —  every artist gets a gid (gfv-fam-*, gfv-chrom-*, gfv-legend, gfv-label-*, gfv-title) so the browser editor can manipulate it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Legacy engine preserved</a:t>
            </a:r>
            <a:r>
              <a:rPr sz="1400">
                <a:solidFill>
                  <a:srgbClr val="606060"/>
                </a:solidFill>
              </a:rPr>
              <a:t>  —  importable as gfviewer.legacy for one release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Unified input layer</a:t>
            </a:r>
          </a:p>
          <a:p>
            <a:r>
              <a:rPr sz="1200">
                <a:solidFill>
                  <a:srgbClr val="E9D6D9"/>
                </a:solidFill>
              </a:rPr>
              <a:t>Reviewer item 3 — load_features() +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Table</a:t>
            </a:r>
            <a:r>
              <a:rPr sz="1400">
                <a:solidFill>
                  <a:srgbClr val="606060"/>
                </a:solidFill>
              </a:rPr>
              <a:t>  —  gene_id, gene_family, chromosome, start, end, strand; header synonyms; 1-based inclusive; a 'centromere' family (strand 0) marks centromeres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BED, three auto-detected modes</a:t>
            </a:r>
            <a:r>
              <a:rPr sz="1400">
                <a:solidFill>
                  <a:srgbClr val="606060"/>
                </a:solidFill>
              </a:rPr>
              <a:t>  —  (a) several files, one family per file; (b) one file + gene_id→family mapping; (c) a single file, column 4 = family. 0-based half-open converted automatically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GFF3 / GTF</a:t>
            </a:r>
            <a:r>
              <a:rPr sz="1400">
                <a:solidFill>
                  <a:srgbClr val="606060"/>
                </a:solidFill>
              </a:rPr>
              <a:t>  —  gene-like feature types kept; family from --family-attr (default search gene_family, Family, gene_biotype, Name, …)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Genome</a:t>
            </a:r>
            <a:r>
              <a:rPr sz="1400">
                <a:solidFill>
                  <a:srgbClr val="606060"/>
                </a:solidFill>
              </a:rPr>
              <a:t>  —  FASTA, .fai, UCSC chrom.sizes, or a chrom,length table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Genes on unknown sequences</a:t>
            </a:r>
            <a:r>
              <a:rPr sz="1400">
                <a:solidFill>
                  <a:srgbClr val="606060"/>
                </a:solidFill>
              </a:rPr>
              <a:t>  —  choose: error, drop, or keep as unplaced contigs; out-of-bounds coordinates clip / error / keep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Strict validation</a:t>
            </a:r>
            <a:r>
              <a:rPr sz="1400">
                <a:solidFill>
                  <a:srgbClr val="606060"/>
                </a:solidFill>
              </a:rPr>
              <a:t>  —  every failure mode has a specific message instead of a stack trace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Family scaling, customization &amp; export</a:t>
            </a:r>
          </a:p>
          <a:p>
            <a:r>
              <a:rPr sz="1200">
                <a:solidFill>
                  <a:srgbClr val="E9D6D9"/>
                </a:solidFill>
              </a:rPr>
              <a:t>Reviewer items 2, 4, 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232323"/>
                </a:solidFill>
              </a:rPr>
              <a:t>• Gene-family limit lifted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606060"/>
                </a:solidFill>
              </a:rPr>
              <a:t>– First 20 colours are a fixed maximally-distinct set; further colours generated programmatically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606060"/>
                </a:solidFill>
              </a:rPr>
              <a:t>– Readability warning above ~25 families; hard cap at 40 unless --collapse-rare folds the rarest into “Other” (--keep protects families)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606060"/>
                </a:solidFill>
              </a:rPr>
              <a:t>– Per-gene ID labels optional and OFF by default; legend auto multi-column or its own page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232323"/>
                </a:solidFill>
              </a:rPr>
              <a:t>• Customization surface</a:t>
            </a:r>
            <a:r>
              <a:rPr sz="1350">
                <a:solidFill>
                  <a:srgbClr val="606060"/>
                </a:solidFill>
              </a:rPr>
              <a:t>  —  CLI flags + web form + reusable YAML/JSON style file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606060"/>
                </a:solidFill>
              </a:rPr>
              <a:t>– Font family/size per element, legend position/columns/frame/title, figure size/DPI/orientation/background/title, tick glyph, telomere &amp; centromere styling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232323"/>
                </a:solidFill>
              </a:rPr>
              <a:t>• Multi-format export</a:t>
            </a:r>
            <a:r>
              <a:rPr sz="1350">
                <a:solidFill>
                  <a:srgbClr val="606060"/>
                </a:solidFill>
              </a:rPr>
              <a:t>  —  PDF / SVG / PNG / JPG / TIFF / EPS from one render; selectable DPI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606060"/>
                </a:solidFill>
              </a:rPr>
              <a:t>– “All output (ZIP)” bundles every file as produced; “Every format (ZIP)” re-renders the figure and each analytics chart in all five figure formats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Web portal — re-architecture &amp; hardening</a:t>
            </a:r>
          </a:p>
          <a:p>
            <a:r>
              <a:rPr sz="1200">
                <a:solidFill>
                  <a:srgbClr val="E9D6D9"/>
                </a:solidFill>
              </a:rPr>
              <a:t>Reviewer item 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Root cause of the legacy outage</a:t>
            </a:r>
            <a:r>
              <a:rPr sz="1350">
                <a:solidFill>
                  <a:srgbClr val="606060"/>
                </a:solidFill>
              </a:rPr>
              <a:t>  —  synchronous subprocess.run renders + weak cleanup exhausted disk / worker threads; errors were recovered by scraping stdout for the substring “Error”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In-process engine</a:t>
            </a:r>
            <a:r>
              <a:rPr sz="1350">
                <a:solidFill>
                  <a:srgbClr val="606060"/>
                </a:solidFill>
              </a:rPr>
              <a:t>  —  no subprocess; matplotlib forced to the Agg backend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Async job model</a:t>
            </a:r>
            <a:r>
              <a:rPr sz="1350">
                <a:solidFill>
                  <a:srgbClr val="606060"/>
                </a:solidFill>
              </a:rPr>
              <a:t>  —  submit → job id → poll status → results page; ThreadPoolExecutor, in-memory registry mirrored to meta.json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Structured errors</a:t>
            </a:r>
            <a:r>
              <a:rPr sz="1350">
                <a:solidFill>
                  <a:srgbClr val="606060"/>
                </a:solidFill>
              </a:rPr>
              <a:t>  —  real error pages; validation messages surfaced verbatim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Resource limits</a:t>
            </a:r>
            <a:r>
              <a:rPr sz="1350">
                <a:solidFill>
                  <a:srgbClr val="606060"/>
                </a:solidFill>
              </a:rPr>
              <a:t>  —  MAX_CONTENT_LENGTH, per-job disk cap, logged TTL-based cleanup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Ops</a:t>
            </a:r>
            <a:r>
              <a:rPr sz="1350">
                <a:solidFill>
                  <a:srgbClr val="606060"/>
                </a:solidFill>
              </a:rPr>
              <a:t>  —  app factory + blueprints, env-var config, GET /api/health readiness probe, gunicorn (1 worker + threads keeps the registry coherent)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Quality gate</a:t>
            </a:r>
            <a:r>
              <a:rPr sz="1350">
                <a:solidFill>
                  <a:srgbClr val="606060"/>
                </a:solidFill>
              </a:rPr>
              <a:t>  —  requirements pinned, environment.yml, 93-test pytest suite + GitHub Actions CI on Python 3.8–3.12, CLI smoke-tests on every bundled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Web portal — interactive results editor</a:t>
            </a:r>
          </a:p>
          <a:p>
            <a:r>
              <a:rPr sz="1200">
                <a:solidFill>
                  <a:srgbClr val="E9D6D9"/>
                </a:solidFill>
              </a:rPr>
              <a:t>Reviewer item 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Inline SVG + vanilla-JS editor</a:t>
            </a:r>
            <a:r>
              <a:rPr sz="1400">
                <a:solidFill>
                  <a:srgbClr val="606060"/>
                </a:solidFill>
              </a:rPr>
              <a:t>  —  no framework; static image fallback if JS is off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Choose what to draw</a:t>
            </a:r>
            <a:r>
              <a:rPr sz="1400">
                <a:solidFill>
                  <a:srgbClr val="606060"/>
                </a:solidFill>
              </a:rPr>
              <a:t>  —  per-family and per-chromosome checkboxes, each with a “Select all”; de-selected families also drop out of the legend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Restyle live</a:t>
            </a:r>
            <a:r>
              <a:rPr sz="1400">
                <a:solidFill>
                  <a:srgbClr val="606060"/>
                </a:solidFill>
              </a:rPr>
              <a:t>  —  recolour families, drag the legend and labels, change fonts, mark style, legend position, orientation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Regenerate</a:t>
            </a:r>
            <a:r>
              <a:rPr sz="1400">
                <a:solidFill>
                  <a:srgbClr val="606060"/>
                </a:solidFill>
              </a:rPr>
              <a:t>  —  server re-renders from the cached features (no re-upload); layout &amp; spacing recomputed for the kept subset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Export current state</a:t>
            </a:r>
            <a:r>
              <a:rPr sz="1400">
                <a:solidFill>
                  <a:srgbClr val="606060"/>
                </a:solidFill>
              </a:rPr>
              <a:t>  —  PDF / SVG / PNG / JPG / EPS on demand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Analytics inline</a:t>
            </a:r>
            <a:r>
              <a:rPr sz="1400">
                <a:solidFill>
                  <a:srgbClr val="606060"/>
                </a:solidFill>
              </a:rPr>
              <a:t>  —  the four analytics figures embedded with per-chart format buttons and CSV links; two ZIP buttons for bulk download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Distribution — pip-installable CLI + Install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pyproject.toml</a:t>
            </a:r>
            <a:r>
              <a:rPr sz="1350">
                <a:solidFill>
                  <a:srgbClr val="606060"/>
                </a:solidFill>
              </a:rPr>
              <a:t>  —  console entry point  gfviewer = gfviewer.cli:main ; trove classifiers, keywords, project URLs; core dependencies exclude Flask (web portal is the [web] extra)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Packaging files</a:t>
            </a:r>
            <a:r>
              <a:rPr sz="1350">
                <a:solidFill>
                  <a:srgbClr val="606060"/>
                </a:solidFill>
              </a:rPr>
              <a:t>  —  LICENSE (MIT), MANIFEST.in, scripts/build_wheel.sh (build + twine check + optional publish), scripts/smoke_cli.sh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docs/INSTALL.md</a:t>
            </a:r>
            <a:r>
              <a:rPr sz="1350">
                <a:solidFill>
                  <a:srgbClr val="606060"/>
                </a:solidFill>
              </a:rPr>
              <a:t>  —  requirements, five install paths (PyPI / GitHub / editable / conda / venv+pipx), verify, upgrade, full CLI reference with worked examples, exit codes, troubleshooting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Web</a:t>
            </a:r>
            <a:r>
              <a:rPr sz="1350">
                <a:solidFill>
                  <a:srgbClr val="606060"/>
                </a:solidFill>
              </a:rPr>
              <a:t>  —  new /install page mirrors the guide with download buttons; /install/guide.md serves the raw Markdown; “Install” added to the nav; home &amp; Help pages link to it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CI</a:t>
            </a:r>
            <a:r>
              <a:rPr sz="1350">
                <a:solidFill>
                  <a:srgbClr val="606060"/>
                </a:solidFill>
              </a:rPr>
              <a:t>  —  a package job builds the wheel, installs it into a clean venv, runs the entry point on a real dataset, uploads the artifacts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Analytics — baseline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Per-family counts</a:t>
            </a:r>
            <a:r>
              <a:rPr sz="1350">
                <a:solidFill>
                  <a:srgbClr val="606060"/>
                </a:solidFill>
              </a:rPr>
              <a:t>  —  genes on chromosomes vs. unplaced contigs; per-chromosome breakdown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Density &amp; size</a:t>
            </a:r>
            <a:r>
              <a:rPr sz="1350">
                <a:solidFill>
                  <a:srgbClr val="606060"/>
                </a:solidFill>
              </a:rPr>
              <a:t>  —  genes per Mb (genome and per chromosome), gene-length distribution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Sub-telomeric vs. interior</a:t>
            </a:r>
            <a:r>
              <a:rPr sz="1350">
                <a:solidFill>
                  <a:srgbClr val="606060"/>
                </a:solidFill>
              </a:rPr>
              <a:t>  —  normalized distance to the nearer chromosome end; sub-telomere fraction (bp or arm-fraction)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Telomere-proximity permutation test</a:t>
            </a:r>
            <a:r>
              <a:rPr sz="1350">
                <a:solidFill>
                  <a:srgbClr val="606060"/>
                </a:solidFill>
              </a:rPr>
              <a:t>  —  null re-places each family's genes uniformly on the same chromosomes, keeping per-chromosome counts and gene lengths fixed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Tandem-array detection</a:t>
            </a:r>
            <a:r>
              <a:rPr sz="1350">
                <a:solidFill>
                  <a:srgbClr val="606060"/>
                </a:solidFill>
              </a:rPr>
              <a:t>  —  runs of ≥2 same-family genes within --cluster-gap; per-array and per-family summaries (frac_clustered, largest array)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Optional pairwise co-localisation</a:t>
            </a:r>
            <a:r>
              <a:rPr sz="1350">
                <a:solidFill>
                  <a:srgbClr val="606060"/>
                </a:solidFill>
              </a:rPr>
              <a:t>  —  genes of A within a window of a gene of B vs. the permutation null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Outputs</a:t>
            </a:r>
            <a:r>
              <a:rPr sz="1350">
                <a:solidFill>
                  <a:srgbClr val="606060"/>
                </a:solidFill>
              </a:rPr>
              <a:t>  —  analytics_*.csv + analytics_summary.json + a genes-per-family chart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Analytics — seven new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7293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18"/>
                <a:gridCol w="2029913"/>
                <a:gridCol w="6202512"/>
                <a:gridCol w="2706550"/>
              </a:tblGrid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computes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Output(s)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Multi-scale clustering — 1-D Ripley's K/L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Edge-corrected 1-D Ripley K per family (≥5 genes), pooled across chromosomes, as L(t)−t on a 1 kb–1 Mb ladder with a permutation envelope; peak scale = characteristic clustering distance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analytics_ripley.csv + figure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Duplication mode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Each gene labelled tandem / proximal / dispersed from its nearest same-family gap; per-family fractions + predominant mode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analytics_duplication_modes.csv; dup_mode column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Chromosome enrichment, strand bias, richness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Family×chromosome binomial vs. length-proportional expectation; per-family +/− binomial vs. 0.5; per-chromosome family count, Shannon H, evenness, dominant family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3 CSVs (enrichment, strand_bias, chromosome_richness)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Centromere / arm analytics + positional profile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With a centromere track: centromere-proximity permutation test + p-/q-arm binomial. Always: 20-bin gene density along normalized position (“metachromosome”)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centromere_bias.csv, arm_bias.csv, positional_profile.csv + figure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 hotspot scan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Sliding window, all families pooled; Poisson test vs. a uniform rate; FDR-significant windows merged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analytics_hotspots.csv + .bed (BED6)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Family–family proximity + clustering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F×F matrix of mean cross-nearest-neighbour distance (diag = within-family NN); average-linkage clustering → order + k clusters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analytics_family_proximity.csv + heatmap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Benjamini–Hochberg FDR everywhere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q_value + significant_fdr on every per-family / per-pair / per-window test (α = 0.05)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columns across all tables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Analytics — implementation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SciPy-free</a:t>
            </a:r>
            <a:r>
              <a:rPr sz="1400">
                <a:solidFill>
                  <a:srgbClr val="606060"/>
                </a:solidFill>
              </a:rPr>
              <a:t>  —  permutation nulls, the 1-D Ripley estimator, binomial &amp; Poisson tail probabilities, lgamma, and Benjamini–Hochberg are all hand-rolled on NumPy + pandas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Permutation null (shared)</a:t>
            </a:r>
            <a:r>
              <a:rPr sz="1400">
                <a:solidFill>
                  <a:srgbClr val="606060"/>
                </a:solidFill>
              </a:rPr>
              <a:t>  —  re-place a family's genes uniformly on the same chromosomes; per-chromosome counts and gene lengths held fixed; seedable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Guards</a:t>
            </a:r>
            <a:r>
              <a:rPr sz="1400">
                <a:solidFill>
                  <a:srgbClr val="606060"/>
                </a:solidFill>
              </a:rPr>
              <a:t>  —  Ripley needs ≥5 placed genes per family and caps permutations; headline “most clustered” ignores 2-gene families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Unplaced genes</a:t>
            </a:r>
            <a:r>
              <a:rPr sz="1400">
                <a:solidFill>
                  <a:srgbClr val="606060"/>
                </a:solidFill>
              </a:rPr>
              <a:t>  —  counted in genes_per_family but excluded from every chromosome-level test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32323"/>
                </a:solidFill>
              </a:rPr>
              <a:t>• Reproducible</a:t>
            </a:r>
            <a:r>
              <a:rPr sz="1400">
                <a:solidFill>
                  <a:srgbClr val="606060"/>
                </a:solidFill>
              </a:rPr>
              <a:t>  —  --seed fixes every null; --permutations, --ripley-scales, --cluster-gap, --proximal-window, --hotspot-window/step, --proximity-clusters all exposed on the CLI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Provided test datasets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7292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706550"/>
                <a:gridCol w="676637"/>
                <a:gridCol w="1014956"/>
                <a:gridCol w="1127729"/>
                <a:gridCol w="3495961"/>
              </a:tblGrid>
              <a:tr h="32395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Organism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Chr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Genes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Families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Formats provided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</a:tr>
              <a:tr h="32395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data_test_1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Babesia sp. MO1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xlsx + chrom table + colour map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395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data_test_2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Babesia sp. MO1 (subset)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~55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csv + chrom table + colour map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2395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data_test_3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Babesia duncani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~30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tsv + genome FASTA (has centromeres)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395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formats/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same 6-family set, re-expressed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~55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BED, per-family BED, BED + mapping.tsv, GFF3, GTF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2395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synthetic/arabidopsis_10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A. thaliana (TAIR10 lengths)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~170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genes.tsv + genome.txt + colours (seeded)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39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synthetic/celegans_20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C. elegans (WBcel235 lengths)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~380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genes.tsv + genome.txt + colours (seeded)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03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All under static/tests/ (rebuilt by  python tests/make_fixtures.py ). Synthetic families are placed with one of four spatial patterns (tandem array / sub-telomeric / chromosome-enriched / dispersed) under fixed seeds so the analytics have signal to detect. The web home page lists every dataset with Run and Download; “Download every dataset (ZIP)” bundles them all.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 dataset 1 — overview</a:t>
            </a:r>
          </a:p>
          <a:p>
            <a:r>
              <a:rPr sz="1200">
                <a:solidFill>
                  <a:srgbClr val="E9D6D9"/>
                </a:solidFill>
              </a:rPr>
              <a:t>Babesia sp. MO1  ·  worked example for the rest of the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Input</a:t>
            </a:r>
            <a:r>
              <a:rPr sz="1350">
                <a:solidFill>
                  <a:srgbClr val="606060"/>
                </a:solidFill>
              </a:rPr>
              <a:t>  —  data_test_1.xlsx (125 genes), chrs_test_1.txt (chr1 4.14 Mb, chr2 3.66 Mb, chr3 2.32 Mb; 10.12 Mb total), colors_test_1.txt (MGF1–MGF18 → palette 1–18)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Command</a:t>
            </a:r>
            <a:r>
              <a:rPr sz="1350">
                <a:solidFill>
                  <a:srgbClr val="606060"/>
                </a:solidFill>
              </a:rPr>
              <a:t>  —  gfviewer -d data_test_1.xlsx -g chrs_test_1.txt -c colors_test_1.txt -o out/ -f png svg pdf --analytics --permutations 1000 --seed 0 --label-mode family --tick-style lollipop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Composition</a:t>
            </a:r>
            <a:r>
              <a:rPr sz="1350">
                <a:solidFill>
                  <a:srgbClr val="606060"/>
                </a:solidFill>
              </a:rPr>
              <a:t>  —  18 families; sizes from 27 genes (MGF1) down to 1 (MGF12); all 125 genes placed on chromosomes, none unplaced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Headline</a:t>
            </a:r>
            <a:r>
              <a:rPr sz="1350">
                <a:solidFill>
                  <a:srgbClr val="606060"/>
                </a:solidFill>
              </a:rPr>
              <a:t>  —  81 / 125 genes (64.8%) are sub-telomeric; largest &amp; densest family MGF1; most-clustered family MGF18 (100% in an array)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32323"/>
                </a:solidFill>
              </a:rPr>
              <a:t>• 17 analytics tables + summary JSON + 4 figures produced; the next slides show the figures and the key tables verbatim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 dataset 1 — chromosome ideogram</a:t>
            </a:r>
          </a:p>
          <a:p>
            <a:r>
              <a:rPr sz="1200">
                <a:solidFill>
                  <a:srgbClr val="E9D6D9"/>
                </a:solidFill>
              </a:rPr>
              <a:t>gfviewer.png  ·  one label per family cluster, lollipop 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gf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776" y="1280160"/>
            <a:ext cx="5842143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533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Calibri"/>
              </a:rPr>
              <a:t>Every family in its own colour; + strand above each chromosome axis, − strand below. The genes pile up at both chromosome ends and leave the interiors almost empty — the sub-telomeric bias that the analytics quantify.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 dataset 1 — genes per family</a:t>
            </a:r>
          </a:p>
          <a:p>
            <a:r>
              <a:rPr sz="1200">
                <a:solidFill>
                  <a:srgbClr val="E9D6D9"/>
                </a:solidFill>
              </a:rPr>
              <a:t>analytics_genes_per_family.csv / 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analytics_genes_per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5943600" cy="298243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234440"/>
          <a:ext cx="5333694" cy="389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499"/>
                <a:gridCol w="1066739"/>
                <a:gridCol w="960065"/>
                <a:gridCol w="853391"/>
              </a:tblGrid>
              <a:tr h="29964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On chr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Unplaced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</a:tr>
              <a:tr h="2996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MGF1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996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MGF3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2996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MGF2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996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MGF4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2996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MGF5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996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MGF6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2996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MGF7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996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MGF8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2996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MGF10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996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MGF9 / 11 / 13 / 15 / 16 / 18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3 each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2996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MGF14 / 17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2 each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996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MGF12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491196"/>
            <a:ext cx="6263640" cy="1909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18 families, 125 genes, 0 unplaced. A steep size distribution: the top three families hold half of all genes.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 dataset 1 — positional density &amp; telomere bias</a:t>
            </a:r>
          </a:p>
          <a:p>
            <a:r>
              <a:rPr sz="1200">
                <a:solidFill>
                  <a:srgbClr val="E9D6D9"/>
                </a:solidFill>
              </a:rPr>
              <a:t>analytics_positional_profile.csv  +  analytics_telomere_bias.csv  (1000 permutations)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20</a:t>
            </a:r>
          </a:p>
        </p:txBody>
      </p:sp>
      <p:pic>
        <p:nvPicPr>
          <p:cNvPr id="6" name="Picture 5" descr="analytics_positional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5943600" cy="314008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234440"/>
          <a:ext cx="5493704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478"/>
                <a:gridCol w="533369"/>
                <a:gridCol w="746717"/>
                <a:gridCol w="746717"/>
                <a:gridCol w="640043"/>
                <a:gridCol w="693380"/>
              </a:tblGrid>
              <a:tr h="29913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obs. d̄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null d̄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FDR sig.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</a:tr>
              <a:tr h="29913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MGF1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0.197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0.503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9913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MGF4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0.070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0.498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29913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MGF2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0.135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9913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MGF3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0.140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0.502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29913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MGF14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0.028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0.509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9913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MGF5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0.219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0.498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0.006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29913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MGF10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0.133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0.498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0.016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9913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MGF7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0.158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0.494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0.016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29913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MGF8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0.127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0.016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9913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MGF6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0.228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0.032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29913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MGF11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0.133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0.497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0.033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9913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MGF16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0.131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0.499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0.036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29914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MGF13 / 18 / 9 / 12 / 15 / 17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1–3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~0.50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&gt;0.05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32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648847"/>
            <a:ext cx="6263640" cy="17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d̄ = mean normalized distance to the nearer chromosome end (0 = telomere, 0.5 = centre). 12 of 18 families are significantly telomere-proximal after Benjamini–Hochberg FDR; every observed d̄ sits far below the ~0.5 permutation null.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 dataset 1 — multi-scale clustering (Ripley's L)</a:t>
            </a:r>
          </a:p>
          <a:p>
            <a:r>
              <a:rPr sz="1200">
                <a:solidFill>
                  <a:srgbClr val="E9D6D9"/>
                </a:solidFill>
              </a:rPr>
              <a:t>analytics_ripley.csv  +  summary.ripley_clustering  (families with ≥5 placed genes)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analytics_rip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5943600" cy="317833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234440"/>
          <a:ext cx="5333694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065"/>
                <a:gridCol w="1066739"/>
                <a:gridCol w="1173412"/>
                <a:gridCol w="2133478"/>
              </a:tblGrid>
              <a:tr h="30567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peak scale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peak L(t)−t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significant scales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</a:tr>
              <a:tr h="30567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MGF1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500 kb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7.4×10⁵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10 kb – 1 Mb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30567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MGF2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500 kb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1.05×10⁶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20 kb – 1 Mb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30567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MGF3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500 kb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7.1×10⁵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20 kb – 1 Mb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30567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MGF4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500 kb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1.20×10⁶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10 kb – 1 Mb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30567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MGF5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500 kb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8.7×10⁵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1 kb – 100 kb, 500 kb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30567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MGF6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20 kb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5.8×10⁵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Calibri"/>
                        </a:rPr>
                        <a:t>20–50–100 kb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687094"/>
            <a:ext cx="6263640" cy="1713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L(t)−t &gt; 0 means clustered at that scale. All six eligible families are significantly clustered across a broad range; MGF1–MGF5 peak at ~500 kb (chromosome-arm-scale super-clusters), MGF6 peaks tighter at ~20 kb.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 dataset 1 — family–family proximity</a:t>
            </a:r>
          </a:p>
          <a:p>
            <a:r>
              <a:rPr sz="1200">
                <a:solidFill>
                  <a:srgbClr val="E9D6D9"/>
                </a:solidFill>
              </a:rPr>
              <a:t>analytics_family_proximity.csv  ·  average-linkage clustering, auto k = 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22</a:t>
            </a:r>
          </a:p>
        </p:txBody>
      </p:sp>
      <p:pic>
        <p:nvPicPr>
          <p:cNvPr id="6" name="Picture 5" descr="analytics_family_proxim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5566367" cy="42976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234440"/>
          <a:ext cx="533369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91"/>
                <a:gridCol w="4480303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Families</a:t>
                      </a:r>
                    </a:p>
                  </a:txBody>
                  <a:tcPr marL="45720" marR="45720">
                    <a:solidFill>
                      <a:srgbClr val="7A1F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MGF15 (singleton)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MGF8 (singleton)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MGF16, MGF4, MGF17, MGF6, MGF18, MGF9, MGF11, MGF2, MGF1, MGF3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MGF10, MGF7, MGF14, MGF5, MGF12, MGF13</a:t>
                      </a:r>
                    </a:p>
                  </a:txBody>
                  <a:tcPr marL="45720" marR="45720" marT="13716" marB="13716">
                    <a:solidFill>
                      <a:srgbClr val="ECE3E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5440680"/>
            <a:ext cx="5886407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Cell = mean distance from a gene of family A to the nearest gene of family B on the same chromosome (kb; darker = closer). The large yellow block (cluster 3) is a core set of ten families whose members are consistently interleaved in the same sub-telomeric neighbourhoods.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 dataset 1 — duplication mode &amp; tandem arrays</a:t>
            </a:r>
          </a:p>
          <a:p>
            <a:r>
              <a:rPr sz="1200">
                <a:solidFill>
                  <a:srgbClr val="E9D6D9"/>
                </a:solidFill>
              </a:rPr>
              <a:t>analytics_duplication_modes.csv  +  analytics_array_summary.csv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728383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188"/>
                <a:gridCol w="1014956"/>
                <a:gridCol w="1127729"/>
                <a:gridCol w="1127729"/>
                <a:gridCol w="1466048"/>
                <a:gridCol w="1014956"/>
                <a:gridCol w="1240502"/>
                <a:gridCol w="1353275"/>
              </a:tblGrid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tandem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proximal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dispersed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predominant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arrays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genes in arrays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frac. clustered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tandem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tandem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tandem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MGF4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proximal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proximal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0.33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MGF6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tandem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tandem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MGF15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tandem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192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tandem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92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MGF8 / 9 / 10 / 11 / 13 / 16 / 17 / 14 / 12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dispersed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946904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Larger families (MGF1–MGF3, MGF6, MGF18) are built by tandem/proximal duplication; the many 2–4-gene families are dispersed singletons scattered among the sub-telomeres.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 dataset 1 — multigene-family hotspots (BED output)</a:t>
            </a:r>
          </a:p>
          <a:p>
            <a:r>
              <a:rPr sz="1200">
                <a:solidFill>
                  <a:srgbClr val="E9D6D9"/>
                </a:solidFill>
              </a:rPr>
              <a:t>analytics_hotspots.csv  +  analytics_hotspots.bed  (Poisson window scan, BH-merged)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048788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502"/>
                <a:gridCol w="902183"/>
                <a:gridCol w="1466048"/>
                <a:gridCol w="1466048"/>
                <a:gridCol w="1240502"/>
                <a:gridCol w="902183"/>
                <a:gridCol w="1014956"/>
                <a:gridCol w="1127729"/>
                <a:gridCol w="1127729"/>
              </a:tblGrid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chrom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start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end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len (bp)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genes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families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genes/Mb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min q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hotspot_1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chr1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50,001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250,000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200,000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55.0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2.6e–3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hotspot_2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chr1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300,001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400,000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100,000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40.0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3.2e–2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hotspot_3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chr1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3,550,001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3,800,000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250,000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56.0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3.2e–5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hotspot_4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chr1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3,800,001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4,000,000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200,000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40.0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6.0e–4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hotspot_5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chr2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3,150,001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3,300,000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150,000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33.3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4.2e–3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hotspot_6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chr2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3,350,001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3,650,000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300,000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50.0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3.5e–4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hotspot_7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chr3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400,000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400,000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95.0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323"/>
                          </a:solidFill>
                          <a:latin typeface="Calibri"/>
                        </a:rPr>
                        <a:t>3.6e–7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14216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Seven FDR-significant regions, all at chromosome ends. hotspot_7 packs 38 genes from 15 of the 18 families into the first 400 kb of chr3 (95 genes/Mb vs. a genome background of ~12). BED score = min(1000, −10·log10 q).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 dataset 1 — per-chromosome richness &amp; takeaways</a:t>
            </a:r>
          </a:p>
          <a:p>
            <a:r>
              <a:rPr sz="1200">
                <a:solidFill>
                  <a:srgbClr val="E9D6D9"/>
                </a:solidFill>
              </a:rPr>
              <a:t>analytics_chromosome_richness.csv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7292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367"/>
                <a:gridCol w="1353275"/>
                <a:gridCol w="1127729"/>
                <a:gridCol w="1353275"/>
                <a:gridCol w="1466048"/>
                <a:gridCol w="1353275"/>
                <a:gridCol w="1691594"/>
                <a:gridCol w="1127729"/>
              </a:tblGrid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Chromosome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length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genes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families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Shannon H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evenness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dominant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genes/Mb</a:t>
                      </a:r>
                    </a:p>
                  </a:txBody>
                  <a:tcPr marL="54864" marR="54864" anchor="ctr">
                    <a:solidFill>
                      <a:srgbClr val="7A1F2B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chr1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4.14 Mb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2.13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MGF1 (30%)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10.6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chr2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3.66 Mb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2.35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MGF1 (19%)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8.5</a:t>
                      </a:r>
                    </a:p>
                  </a:txBody>
                  <a:tcPr marL="54864" marR="54864" marT="18288" marB="18288" anchor="ctr">
                    <a:solidFill>
                      <a:srgbClr val="ECE3E0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chr3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2.32 Mb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2.42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MGF2 (20%)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21.5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160520"/>
            <a:ext cx="1109441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232323"/>
                </a:solidFill>
              </a:rPr>
              <a:t>• chr3 is the smallest but the most gene-dense (21.5 genes/Mb) and the most family-rich (15 of 18)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32323"/>
                </a:solidFill>
              </a:rPr>
              <a:t>• All three chromosomes are highly even — no single family dominates any chromosome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32323"/>
                </a:solidFill>
              </a:rPr>
              <a:t>• Consistent story across every module: MGF genes in Babesia sp. MO1 are strongly sub-telomeric, tandemly amplified in the large families, and organised into a few dense multi-family hotspots at the chromosome ends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Status &amp; 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GFViewer 2.0  ·  changes from the legacy tool, web portal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Done</a:t>
            </a:r>
            <a:r>
              <a:rPr sz="1350">
                <a:solidFill>
                  <a:srgbClr val="606060"/>
                </a:solidFill>
              </a:rPr>
              <a:t>  —  engine rewrite, unified I/O (BED/GFF3/GTF), family scaling, style system, multi-format export, web-portal hardening, interactive editor, baseline + 7 new analytics modules, consolidated test datasets, pip packaging + Install page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Verification</a:t>
            </a:r>
            <a:r>
              <a:rPr sz="1350">
                <a:solidFill>
                  <a:srgbClr val="606060"/>
                </a:solidFill>
              </a:rPr>
              <a:t>  —  93 automated tests pass; CI on Python 3.8–3.12; wheel builds and installs into a clean environment; CLI smoke-tested on every bundled dataset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Reviewer comments</a:t>
            </a:r>
            <a:r>
              <a:rPr sz="1350">
                <a:solidFill>
                  <a:srgbClr val="606060"/>
                </a:solidFill>
              </a:rPr>
              <a:t>  —  all eight tool-facing concerns implemented and verified (see the “Reviewer comments” slides)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Next</a:t>
            </a:r>
            <a:r>
              <a:rPr sz="1350">
                <a:solidFill>
                  <a:srgbClr val="606060"/>
                </a:solidFill>
              </a:rPr>
              <a:t>  —  SPICE-style UI redesign (card-based workflow, minimalist header, capability bullets) — the one remaining reviewer item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</a:rPr>
              <a:t>• Manuscript</a:t>
            </a:r>
            <a:r>
              <a:rPr sz="1350">
                <a:solidFill>
                  <a:srgbClr val="606060"/>
                </a:solidFill>
              </a:rPr>
              <a:t>  —  Figure 1 legend, “gene family” vs. “multigene family” wording, and a Babesia description are text-only edits, deferred to the manuscript revision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Deck assets rendered from data_test_1.xlsx with the shipping  gfviewer  CLI (1000 permutations, seed 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